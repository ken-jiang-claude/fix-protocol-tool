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0"/>
            <a:ext cx="5486400" cy="6858000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FIX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58A6FF"/>
                </a:solidFill>
              </a:rPr>
              <a:t>Learning &amp; Troubleshooting 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20440"/>
            <a:ext cx="32004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1D9"/>
                </a:solidFill>
              </a:rPr>
              <a:t>AI-Powered | FIXimate Reference | Cloud-Hosted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25A"/>
                </a:solidFill>
              </a:rPr>
              <a:t>Ken Jiang  | 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8A6FF"/>
                </a:solidFill>
              </a:rPr>
              <a:t>fix-protocol-tool.onrender.com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286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D1D9"/>
                </a:solidFill>
              </a:rPr>
              <a:t>claude-haiku-4-5
Flask · Python · SQLite
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3657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45920"/>
            <a:ext cx="530352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91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Why FIX protocol support is hard 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743200"/>
            <a:ext cx="530352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346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788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What this tool does and how it 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40480"/>
            <a:ext cx="530352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319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86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4 core capabilities of the tool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937760"/>
            <a:ext cx="530352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292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983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Business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ROI, outcomes, and success metrics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1645920"/>
            <a:ext cx="530352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7373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1691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Feature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RICE-prioritised enhancement backlog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743200"/>
            <a:ext cx="530352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28346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788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Tech stack and 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840480"/>
            <a:ext cx="530352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9319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886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See the tool in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01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FIX Protocol Support is Expensive and Slow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3657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45920"/>
            <a:ext cx="5029200" cy="1920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</a:rPr>
              <a:t>⏱  Steep Learning Curve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031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21 workflows, 500+ tags, 4 versions.
Months to master through static documentation.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029200" cy="1920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</a:rPr>
              <a:t>🔺  Slow 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Average 3 hours to resolve a FIX incident.
Requires escalation to scarce senior engineers.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749040"/>
            <a:ext cx="5029200" cy="1920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</a:rPr>
              <a:t>🔒  Knowledge Silos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062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FIX expertise locked in 1–2 individuals.
When they leave, the knowledge leaves with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49040"/>
            <a:ext cx="5029200" cy="1920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</a:rPr>
              <a:t>💸  Costly Downtime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062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Every FIX outage delays trading.
Client SLA breaches damage relationships and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02 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An AI-Powered FIX Expert, Available 24/7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3657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9D1D9"/>
                </a:solidFill>
              </a:rPr>
              <a:t>An instant, browser-based assistant that gives any Fintech professional — regardless of experience level — access to FIX protocol expertise on demand.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3474720" cy="15544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Ask Anything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Natural language Q&amp;A on any FIX concept, tag, or 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560320"/>
            <a:ext cx="3474720" cy="15544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21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30175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Instant deep-dive on every workflow from Logon to Settlement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2560320"/>
            <a:ext cx="3474720" cy="15544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8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Troubleshoot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8" y="30175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Paste an error or raw FIX message — get step-by-step diagnosis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3474720" cy="15544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Build &amp; 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7548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Construct FIX messages with live preview and AI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4297680"/>
            <a:ext cx="3474720" cy="15544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19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Save &amp; 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19" y="47548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Persistent conversation history for future reference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598" y="4297680"/>
            <a:ext cx="3474720" cy="15544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8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Always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8" y="47548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Cloud-hosted — accessible from anywhere, any device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03  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4 Core Capabilities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3657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2514600" cy="4754880"/>
          </a:xfrm>
          <a:prstGeom prst="rect">
            <a:avLst/>
          </a:prstGeom>
          <a:solidFill>
            <a:srgbClr val="1C2128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25146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01  Learn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Chat interface powered by Claude AI.
Ask about any FIX tag, message type, or concept.
Answers include FIXimate tag numbers and examples.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600200"/>
            <a:ext cx="2514600" cy="4754880"/>
          </a:xfrm>
          <a:prstGeom prst="rect">
            <a:avLst/>
          </a:prstGeom>
          <a:solidFill>
            <a:srgbClr val="1C2128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600200"/>
            <a:ext cx="2514600" cy="73152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7830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02  Troubleshoot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7744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Select error category + FIX version.
Paste raw FIX message or error text.
AI returns root cause and resolution steps.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2514600" cy="4754880"/>
          </a:xfrm>
          <a:prstGeom prst="rect">
            <a:avLst/>
          </a:prstGeom>
          <a:solidFill>
            <a:srgbClr val="1C2128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600200"/>
            <a:ext cx="2514600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7830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03  FIX Message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7744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Select MsgType, fill SenderCompID/TargetCompID.
Add custom tags — live Tag=Value preview.
AI validates required fields and structure.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600200"/>
            <a:ext cx="2514600" cy="4754880"/>
          </a:xfrm>
          <a:prstGeom prst="rect">
            <a:avLst/>
          </a:prstGeom>
          <a:solidFill>
            <a:srgbClr val="1C2128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600200"/>
            <a:ext cx="2514600" cy="73152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7830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04  Workflow Sidebar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37744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All 21 FIX workflows grouped by phase.
One click = detailed workflow explanation.
Covers Session, Pre-Trade, Trade, Post-Trade, 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04  BUSINESS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ROI: 2,900% — Payback in Under 2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3657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2514600" cy="1645920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8A6FF"/>
                </a:solidFill>
              </a:rPr>
              <a:t>$18,000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</a:rPr>
              <a:t>Annual savings
in engineer 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2514600" cy="1645920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9164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8A6FF"/>
                </a:solidFill>
              </a:rPr>
              <a:t>&lt;$700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</a:rPr>
              <a:t>Total Year 1
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00200"/>
            <a:ext cx="2514600" cy="1645920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8A6FF"/>
                </a:solidFill>
              </a:rPr>
              <a:t>2,900%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146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</a:rPr>
              <a:t>Return on
investment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600200"/>
            <a:ext cx="2514600" cy="1645920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69164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8A6FF"/>
                </a:solidFill>
              </a:rPr>
              <a:t>2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5146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</a:rPr>
              <a:t>Payback
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29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Key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MTTR per FIX incident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3 hrs  →  &lt; 1 hr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34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Escalation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3342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10/month  →  &lt;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36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Tag lookup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736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45 mins  →  &lt; 5 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38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New hire productivity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138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3 months  →  4 weeks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412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Client SLA resolution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5412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4 hrs  →  1 hr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43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Trading downtime / month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2 hrs  →  &lt; 30 mins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05  FEATURE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RICE-Prioritised Enhancement Backlog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3657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8A6FF"/>
                </a:solidFill>
              </a:rPr>
              <a:t>RICE Score = (Reach × Impact × Confidence) / Effort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7863840" cy="347472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029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029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029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Conf.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029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Effort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0299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029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Outcome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377440"/>
            <a:ext cx="7863840" cy="4572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4414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FIX Tag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44144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44144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44144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44144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44144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4414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🟡 LEARN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852928"/>
            <a:ext cx="786384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9169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Error Code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291693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91693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91693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91693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0.5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91693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160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9169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🟢 MTTR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328416"/>
            <a:ext cx="7863840" cy="4572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3924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Saved Message Templates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339242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339242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339242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39242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0.5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39242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120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33924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🟢 MTTR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803904"/>
            <a:ext cx="786384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867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FIX Message Log Parser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386791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386791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386791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80%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386791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1.0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386791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96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38679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🟢 MTTR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279392"/>
            <a:ext cx="7863840" cy="4572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343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Sequence No. Calculator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1960" y="43434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2040" y="43434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32120" y="43434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80%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43434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0.5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43434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43434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🟢 MTTR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4754880"/>
            <a:ext cx="786384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4818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Export Chat to PDF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51960" y="481888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92040" y="481888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32120" y="481888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100%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72200" y="481888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0.5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481888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43800" y="48188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🟠 CLIENT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5230368"/>
            <a:ext cx="7863840" cy="4572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240" y="52943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User Authentication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51960" y="529437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92040" y="529437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32120" y="529437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80%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529437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2.0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12280" y="529437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43800" y="52943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🔵 ADOPT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5705856"/>
            <a:ext cx="786384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57698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FIX Version Comparison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51960" y="576986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92040" y="576986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32120" y="576986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80%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2200" y="576986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1.0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12280" y="576986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43800" y="57698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🟡 LEARN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06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 Stack &amp;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3657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00200"/>
            <a:ext cx="128016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600200"/>
            <a:ext cx="89611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Browser (Chrome / Edge)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116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HTML5 · CSS3 · Vanilla JS · Marked.js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774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25A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532888"/>
            <a:ext cx="1280160" cy="7772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532888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532888"/>
            <a:ext cx="89611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2578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Flask 3.1 (Python 3.12)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9443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REST API · SSE Streaming · SQLite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3101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25A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465576"/>
            <a:ext cx="1280160" cy="7772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65576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AI 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3465576"/>
            <a:ext cx="89611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35112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Anthropic Claude claude-haiku-4-5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87705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FIX system prompt · 4,096 token responses · Streaming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242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25A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398264"/>
            <a:ext cx="1280160" cy="7772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98264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HOSTING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4398264"/>
            <a:ext cx="89611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44439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Render.com (Cloud)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80974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Auto-deploy from GitHub · Free tier · HTTPS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1755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25A"/>
                </a:solidFill>
              </a:rPr>
              <a:t>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330952"/>
            <a:ext cx="1280160" cy="7772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330952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SOURCE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5330952"/>
            <a:ext cx="89611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4A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53766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57424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github.com/ken-jiang-claude/fix-protocol-tool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PROJECT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End-to-End Project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3657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3035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54864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Business Justification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Problem, solution, stakeholders, strategic alignment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53035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00200"/>
            <a:ext cx="54864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ROI &amp;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2,900% ROI · KPIs across People, Process, Business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14600"/>
            <a:ext cx="53035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514600"/>
            <a:ext cx="54864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5603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RACI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26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6 roles · 30 activities · clear accountability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514600"/>
            <a:ext cx="53035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514600"/>
            <a:ext cx="54864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603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Definition of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26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12 criteria to qualify a story for development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429000"/>
            <a:ext cx="53035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429000"/>
            <a:ext cx="54864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4747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Definition of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840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16 criteria across code, testing, deploy, docs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429000"/>
            <a:ext cx="53035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429000"/>
            <a:ext cx="54864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4747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Milestones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840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8 milestones · M1–M5 complete · M6–M8 planned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343400"/>
            <a:ext cx="53035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343400"/>
            <a:ext cx="54864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3891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RICE Prioritisation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754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14 features scored · outcome-tagged · sprint-mapped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343400"/>
            <a:ext cx="53035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343400"/>
            <a:ext cx="54864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3891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Testing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754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Unit · Integration · E2E · Performance · Security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257800"/>
            <a:ext cx="53035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5257800"/>
            <a:ext cx="54864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303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SDLC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669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6-phase Agile model · tech stack rationale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257800"/>
            <a:ext cx="530352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5257800"/>
            <a:ext cx="54864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303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Gantt Chart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669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Full timeline · renders as diagram on GitHub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07 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See It In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3657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91440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Step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1645920"/>
            <a:ext cx="969264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6916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Open the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057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8A6FF"/>
                </a:solidFill>
              </a:rPr>
              <a:t>https://fix-protocol-tool.onrender.com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578608"/>
            <a:ext cx="91440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78608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578608"/>
            <a:ext cx="969264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624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Ask a FIX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990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8A6FF"/>
                </a:solidFill>
              </a:rPr>
              <a:t>"What are the required tags in a NewOrderSingle?"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11296"/>
            <a:ext cx="91440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11296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Step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3511296"/>
            <a:ext cx="969264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355701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Click a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922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8A6FF"/>
                </a:solidFill>
              </a:rPr>
              <a:t>Click 07 Single Order in the sidebar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43984"/>
            <a:ext cx="91440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43984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Step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4443984"/>
            <a:ext cx="969264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448970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Try Troubleshoot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85546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8A6FF"/>
                </a:solidFill>
              </a:rPr>
              <a:t>Switch mode → paste a FIX rejection message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76672"/>
            <a:ext cx="91440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76672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Step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5376672"/>
            <a:ext cx="969264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5422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Use the Builder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788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8A6FF"/>
                </a:solidFill>
              </a:rPr>
              <a:t>Open Builder → select MsgType=D → validate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0"/>
            <a:ext cx="5486400" cy="6858000"/>
          </a:xfrm>
          <a:prstGeom prst="rect">
            <a:avLst/>
          </a:prstGeom>
          <a:solidFill>
            <a:srgbClr val="1F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32004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D1D9"/>
                </a:solidFill>
              </a:rPr>
              <a:t>Live App: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1089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8A6FF"/>
                </a:solidFill>
              </a:rPr>
              <a:t>fix-protocol-tool.onrender.com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D1D9"/>
                </a:solidFill>
              </a:rPr>
              <a:t>GitHub: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7033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8A6FF"/>
                </a:solidFill>
              </a:rPr>
              <a:t>github.com/ken-jiang-claude/fix-protocol-tool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D1D9"/>
                </a:solidFill>
              </a:rPr>
              <a:t>User Manual: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8A6FF"/>
                </a:solidFill>
              </a:rPr>
              <a:t>FIX learning.md  (in repository)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D1D9"/>
                </a:solidFill>
              </a:rPr>
              <a:t>PM Doc: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8920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8A6FF"/>
                </a:solidFill>
              </a:rPr>
              <a:t>PROJECT_MANAGEMENT.md  (in repository)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25A"/>
                </a:solidFill>
              </a:rPr>
              <a:t>Ken Jiang  |  April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8A6FF"/>
                </a:solidFill>
              </a:rPr>
              <a:t>Let's discuss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