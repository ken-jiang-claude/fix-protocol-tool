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0"/>
            <a:ext cx="36576" cy="68580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onsolas"/>
              </a:rPr>
              <a:t>FIX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821F"/>
                </a:solidFill>
                <a:latin typeface="Calibri"/>
              </a:rPr>
              <a:t>Learning &amp; Troubleshooting 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337560"/>
            <a:ext cx="4114800" cy="32004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AI-Powered  |  FIXimate Reference  |  Cloud-Hosted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29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Ken Jiang  |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577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821F"/>
                </a:solidFill>
                <a:latin typeface="Calibri"/>
              </a:rPr>
              <a:t>fix-protocol-tool.onrender.com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821F"/>
                </a:solidFill>
                <a:latin typeface="Consolas"/>
              </a:rPr>
              <a:t>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554480"/>
            <a:ext cx="3657600" cy="6400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93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821F"/>
                </a:solidFill>
                <a:latin typeface="Consola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609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claude-haiku-4-5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2304288"/>
            <a:ext cx="3657600" cy="6400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359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821F"/>
                </a:solidFill>
                <a:latin typeface="Consolas"/>
              </a:rPr>
              <a:t>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359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Flask 3.1 / Python 3.12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054096"/>
            <a:ext cx="3657600" cy="6400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108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821F"/>
                </a:solidFill>
                <a:latin typeface="Consolas"/>
              </a:rPr>
              <a:t>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3803904"/>
            <a:ext cx="3657600" cy="6400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858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821F"/>
                </a:solidFill>
                <a:latin typeface="Consolas"/>
              </a:rPr>
              <a:t>HOSTING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858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Render.com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4553712"/>
            <a:ext cx="3657600" cy="6400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6085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821F"/>
                </a:solidFill>
                <a:latin typeface="Consolas"/>
              </a:rPr>
              <a:t>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608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v1.2 / Sprint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3949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45720" cy="109728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821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50876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2024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Why FIX protocol support is hard 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97480"/>
            <a:ext cx="53949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697480"/>
            <a:ext cx="45720" cy="109728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821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8892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004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What this tool does and how it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977640"/>
            <a:ext cx="53949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40"/>
            <a:ext cx="45720" cy="109728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821F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06908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Key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4805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4 core capabilities of the tool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257800"/>
            <a:ext cx="53949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257800"/>
            <a:ext cx="45720" cy="109728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821F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34924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Business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7607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ROI, outcomes, and success metrics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417320"/>
            <a:ext cx="53949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1417320"/>
            <a:ext cx="45720" cy="109728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821F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150876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Feature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192024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RICE-prioritised enhancement backlog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2697480"/>
            <a:ext cx="53949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2697480"/>
            <a:ext cx="45720" cy="109728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2788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821F"/>
                </a:solidFill>
                <a:latin typeface="Consola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278892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20040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Tech stack and deployment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3977640"/>
            <a:ext cx="539496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977640"/>
            <a:ext cx="45720" cy="109728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821F"/>
                </a:solidFill>
                <a:latin typeface="Consolas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069080"/>
            <a:ext cx="4617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Live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4805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See the tool in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01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FIX Protocol Support is Expensive and Slow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394960" cy="21945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45720" cy="21945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onsolas"/>
              </a:rPr>
              <a:t>STEEP LEARNING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10512"/>
            <a:ext cx="52120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  <a:latin typeface="Calibri"/>
              </a:rPr>
              <a:t>21 workflows, 500+ tags, 4 versions.
Months to master through static documentation.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5394960" cy="21945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45720" cy="21945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onsolas"/>
              </a:rPr>
              <a:t>SLOW TROUBLESHOOTING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810512"/>
            <a:ext cx="52120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  <a:latin typeface="Calibri"/>
              </a:rPr>
              <a:t>Average 3 hours to resolve a FIX incident.
Requires escalation to scarce senior engineers.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5394960" cy="21945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45720" cy="21945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867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  <a:latin typeface="Consolas"/>
              </a:rPr>
              <a:t>KNOWLEDGE SILOS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87952"/>
            <a:ext cx="52120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  <a:latin typeface="Calibri"/>
              </a:rPr>
              <a:t>FIX expertise locked in 1-2 individuals.
When they leave, the knowledge leaves with them.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794760"/>
            <a:ext cx="5394960" cy="21945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794760"/>
            <a:ext cx="45720" cy="21945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8679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  <a:latin typeface="Consolas"/>
              </a:rPr>
              <a:t>COSTLY DOWNTIME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187952"/>
            <a:ext cx="52120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  <a:latin typeface="Calibri"/>
              </a:rPr>
              <a:t>Every FIX outage delays trading.
Client SLA breaches damage relationships and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02 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An AI-Powered FIX Expert, Available 24/7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0E0"/>
                </a:solidFill>
                <a:latin typeface="Calibri"/>
              </a:rPr>
              <a:t>An instant, browser-based assistant giving any Fintech professional access to FIX protocol expertise on demand — regardless of experience level.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356616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45720" cy="192024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176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ASK ANYTHING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496312"/>
            <a:ext cx="3383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Natural language Q&amp;A on any FIX concept, tag, or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103120"/>
            <a:ext cx="356616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103120"/>
            <a:ext cx="45720" cy="192024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176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21 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496312"/>
            <a:ext cx="3383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Instant deep-dive on every workflow from Logon to Settlement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103120"/>
            <a:ext cx="356616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103120"/>
            <a:ext cx="45720" cy="192024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2176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TROUBLESHOOT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496312"/>
            <a:ext cx="3383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Paste an error or raw FIX message — get step-by-step diagnosis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51960"/>
            <a:ext cx="356616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251960"/>
            <a:ext cx="45720" cy="1920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325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BUILD &amp;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645152"/>
            <a:ext cx="3383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Construct FIX messages with live preview and AI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251960"/>
            <a:ext cx="356616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4251960"/>
            <a:ext cx="45720" cy="1920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4325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SAVE &amp; 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645152"/>
            <a:ext cx="3383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Persistent conversation history for future reference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4251960"/>
            <a:ext cx="3566160" cy="192024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4251960"/>
            <a:ext cx="45720" cy="1920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4325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ALWAYS 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4645152"/>
            <a:ext cx="33832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Cloud-hosted — accessible from anywhere, any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03 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4 Core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2651760" cy="507492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2651760" cy="54864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71600"/>
            <a:ext cx="45720" cy="507492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821F"/>
                </a:solidFill>
                <a:latin typeface="Consolas"/>
              </a:rPr>
              <a:t>01  LEARN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031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Chat interface powered by Claude AI.
Ask about any FIX tag, message type, or concept.
Answers include FIXimate tag numbers and examples.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371600"/>
            <a:ext cx="2651760" cy="507492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371600"/>
            <a:ext cx="265176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45720" cy="50749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onsolas"/>
              </a:rPr>
              <a:t>02  TROUBLESHOOT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1031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Select error category + FIX version.
Paste raw FIX message or error text.
AI returns root cause and resolution steps.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651760" cy="507492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45720" cy="5074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A047"/>
                </a:solidFill>
                <a:latin typeface="Consolas"/>
              </a:rPr>
              <a:t>03  MSG BUILDER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1031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Select MsgType, fill SenderCompID/TargetCompID.
Add custom tags — live Tag=Value preview.
AI validates required fields and structure.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371600"/>
            <a:ext cx="2651760" cy="507492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371600"/>
            <a:ext cx="265176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371600"/>
            <a:ext cx="45720" cy="50749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568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  <a:latin typeface="Consolas"/>
              </a:rPr>
              <a:t>04  WORKFLOW SIDEBAR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2103120"/>
            <a:ext cx="2468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E0"/>
                </a:solidFill>
                <a:latin typeface="Calibri"/>
              </a:rPr>
              <a:t>All 21 FIX workflows grouped by phase.
One click = detailed workflow explanation.
Covers Session, Pre-Trade, Trade, Post-Trade, 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04  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ROI: 2,900%  —  Payback in Under 2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256032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43A047"/>
                </a:solidFill>
                <a:latin typeface="Consolas"/>
              </a:rPr>
              <a:t>$18,000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Annual savings
in engineer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371600"/>
            <a:ext cx="256032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630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B300"/>
                </a:solidFill>
                <a:latin typeface="Consolas"/>
              </a:rPr>
              <a:t>&lt;$700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Total Year 1
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56032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630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821F"/>
                </a:solidFill>
                <a:latin typeface="Consolas"/>
              </a:rPr>
              <a:t>2,900%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Return on
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56032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4630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5821F"/>
                </a:solidFill>
                <a:latin typeface="Consolas"/>
              </a:rPr>
              <a:t>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Payback
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54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KEY OUTCOMES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66160"/>
            <a:ext cx="107899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8444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821F"/>
                </a:solidFill>
                <a:latin typeface="Consolas"/>
              </a:rPr>
              <a:t>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58444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935"/>
                </a:solidFill>
                <a:latin typeface="Consolas"/>
              </a:rPr>
              <a:t>BEFORE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8444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3A047"/>
                </a:solidFill>
                <a:latin typeface="Consolas"/>
              </a:rPr>
              <a:t>AFTER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931920"/>
            <a:ext cx="10789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98678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  <a:latin typeface="Calibri"/>
              </a:rPr>
              <a:t>MTTR per FIX incident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98678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onsolas"/>
              </a:rPr>
              <a:t>3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8678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&lt; 1 hr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370832"/>
            <a:ext cx="10789920" cy="42062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2569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  <a:latin typeface="Calibri"/>
              </a:rPr>
              <a:t>Escalation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4256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onsolas"/>
              </a:rPr>
              <a:t>10/month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256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&lt; 6/month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809744"/>
            <a:ext cx="10789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8646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  <a:latin typeface="Calibri"/>
              </a:rPr>
              <a:t>Tag lookup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8646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onsolas"/>
              </a:rPr>
              <a:t>45 mins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8646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&lt; 5 mins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248656"/>
            <a:ext cx="10789920" cy="42062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303520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  <a:latin typeface="Calibri"/>
              </a:rPr>
              <a:t>New hire productivity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303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onsolas"/>
              </a:rPr>
              <a:t>3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303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4 weeks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687568"/>
            <a:ext cx="10789920" cy="420624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74243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  <a:latin typeface="Calibri"/>
              </a:rPr>
              <a:t>Client SLA resolution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7424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onsolas"/>
              </a:rPr>
              <a:t>4 hrs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7424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1 hr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6126480"/>
            <a:ext cx="10789920" cy="42062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18134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E0"/>
                </a:solidFill>
                <a:latin typeface="Calibri"/>
              </a:rPr>
              <a:t>Trading downtime / month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61813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onsolas"/>
              </a:rPr>
              <a:t>2 hrs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1813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A047"/>
                </a:solidFill>
                <a:latin typeface="Consolas"/>
              </a:rPr>
              <a:t>&lt; 30 mins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05  FEATURE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RICE-Prioritised Enhancement Backlog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RICE = (Reach x Impact x Confidence) / Effort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1124712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3886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Consolas"/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013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Consolas"/>
              </a:rPr>
              <a:t>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8013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Consolas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0136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Consolas"/>
              </a:rPr>
              <a:t>CONF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399" y="1801368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Consolas"/>
              </a:rPr>
              <a:t>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80136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821F"/>
                </a:solidFill>
                <a:latin typeface="Consolas"/>
              </a:rPr>
              <a:t>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8013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Consolas"/>
              </a:rPr>
              <a:t>OUTCOME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167128"/>
            <a:ext cx="11247120" cy="521207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249424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FIX Tag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2494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2494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49424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399" y="22494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4942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21F"/>
                </a:solidFill>
                <a:latin typeface="Consolas"/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2494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21F"/>
                </a:solidFill>
                <a:latin typeface="Consolas"/>
              </a:rPr>
              <a:t>LEARN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706624"/>
            <a:ext cx="11247120" cy="52120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788920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Error Code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2788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78892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399" y="2788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0.5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788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21F"/>
                </a:solidFill>
                <a:latin typeface="Consolas"/>
              </a:rPr>
              <a:t>160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  <a:latin typeface="Consolas"/>
              </a:rPr>
              <a:t>MTTR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246120"/>
            <a:ext cx="11247120" cy="521207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328416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Saved Message Templates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3284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33284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328416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399" y="33284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0.5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3284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  <a:latin typeface="Consolas"/>
              </a:rPr>
              <a:t>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3284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  <a:latin typeface="Consolas"/>
              </a:rPr>
              <a:t>MTTR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785616"/>
            <a:ext cx="11247120" cy="52120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3867912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FIX Message Log Parser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3867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867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86791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80%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399" y="3867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867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  <a:latin typeface="Consolas"/>
              </a:rPr>
              <a:t>96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8679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  <a:latin typeface="Consolas"/>
              </a:rPr>
              <a:t>MTTR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4325112"/>
            <a:ext cx="11247120" cy="521207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440740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Sequence No. Calculator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44074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44074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440740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80%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399" y="44074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0.5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44074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  <a:latin typeface="Consolas"/>
              </a:rPr>
              <a:t>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44074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3A047"/>
                </a:solidFill>
                <a:latin typeface="Consolas"/>
              </a:rPr>
              <a:t>MTTR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4864608"/>
            <a:ext cx="11247120" cy="52120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4946904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Export Chat to PDF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60" y="49469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9469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12280" y="4946904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100%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399" y="49469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0.5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49469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onsolas"/>
              </a:rPr>
              <a:t>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49469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300"/>
                </a:solidFill>
                <a:latin typeface="Consolas"/>
              </a:rPr>
              <a:t>CLIENT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" y="5404104"/>
            <a:ext cx="11247120" cy="521207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5486400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User Authentication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09160" y="5486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06440" y="5486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12280" y="548640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80%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399" y="5486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5486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onsolas"/>
              </a:rPr>
              <a:t>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5486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  <a:latin typeface="Consolas"/>
              </a:rPr>
              <a:t>ADOPT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" y="5943600"/>
            <a:ext cx="11247120" cy="52120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6025896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E0E0"/>
                </a:solidFill>
                <a:latin typeface="Calibri"/>
              </a:rPr>
              <a:t>FIX Version Comparison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602589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06440" y="602589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12280" y="6025896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80%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399" y="602589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E0"/>
                </a:solidFill>
                <a:latin typeface="Calibri"/>
              </a:rPr>
              <a:t>1.0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78240" y="602589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onsolas"/>
              </a:rPr>
              <a:t>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0" y="60258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821F"/>
                </a:solidFill>
                <a:latin typeface="Consolas"/>
              </a:rPr>
              <a:t>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06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Tech Stack &amp;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1417320" cy="82296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onsolas"/>
              </a:rPr>
              <a:t>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417320"/>
            <a:ext cx="9738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1417320"/>
            <a:ext cx="45720" cy="82296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4721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Browser (Chrome / Edge)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87452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HTML5  |  CSS3  |  Vanilla JS  |  Marked.js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4028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423160"/>
            <a:ext cx="1417320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2316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onsolas"/>
              </a:rPr>
              <a:t>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423160"/>
            <a:ext cx="9738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4560" y="2423160"/>
            <a:ext cx="45720" cy="8229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24780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Flask 3.1  (Python 3.12)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88036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REST API  |  SSE Streaming  |  SQLite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24612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429000"/>
            <a:ext cx="1417320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2900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onsolas"/>
              </a:rPr>
              <a:t>AI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429000"/>
            <a:ext cx="9738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3429000"/>
            <a:ext cx="45720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4838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Anthropic  claude-haiku-4-5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8862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FIX system prompt  |  4,096 token responses  |  Streaming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25196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434840"/>
            <a:ext cx="14173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3484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onsolas"/>
              </a:rPr>
              <a:t>HOSTING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4434840"/>
            <a:ext cx="9738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94560" y="4434840"/>
            <a:ext cx="4572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448970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Render.com  (Cloud)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8920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Auto-deploy from GitHub  |  Free tier  |  HTTPS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25780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440680"/>
            <a:ext cx="1417320" cy="8229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4068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  <a:latin typeface="Consolas"/>
              </a:rPr>
              <a:t>SOURCE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5440680"/>
            <a:ext cx="9738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94560" y="5440680"/>
            <a:ext cx="45720" cy="8229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54955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GitHub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58978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github.com/ken-jiang-claude/fix-protocol-tool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PROJECT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End-to-End Project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813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Business Justification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Problem, solution, stakeholders, strategic alignment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813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ROI &amp;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2,900% ROI  |  KPIs across People, Process, Business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441448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441448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054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RACI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986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6 roles  |  30 activities  |  clear accountability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2441448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2441448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5054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Definition of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8986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12 criteria to qualify a story for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465576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465576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5295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Definition of 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9227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16 criteria across code, testing, deploy, docs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465576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465576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5295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Milestones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2277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8 milestones  |  M1-M5 complete  |  M6-M8 planned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489704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489704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53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RICE Prioritisation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9469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14 features scored  |  outcome-tagged  |  sprint-mapped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4489704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489704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553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Testing 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9469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Unit  |  Integration  |  E2E  |  Performance  |  Security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513832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5513832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577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SDLC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9710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6-phase Agile model  |  tech stack rationale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5513832"/>
            <a:ext cx="539496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5080" y="5513832"/>
            <a:ext cx="4572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577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nsolas"/>
              </a:rPr>
              <a:t>Gantt Chart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9710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Full timeline  |  renders as diagram on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nsolas"/>
              </a:rPr>
              <a:t>07 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See It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16152"/>
            <a:ext cx="36576" cy="4849538688000"/>
          </a:xfrm>
          <a:prstGeom prst="rect">
            <a:avLst/>
          </a:prstGeom>
          <a:solidFill>
            <a:srgbClr val="8B4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6868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nsolas"/>
              </a:rPr>
              <a:t>STEP
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417320"/>
            <a:ext cx="10287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1417320"/>
            <a:ext cx="45720" cy="914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4813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Open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89280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821F"/>
                </a:solidFill>
                <a:latin typeface="Calibri"/>
              </a:rPr>
              <a:t>https://fix-protocol-tool.onrender.com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41448"/>
            <a:ext cx="86868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32888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nsolas"/>
              </a:rPr>
              <a:t>STEP
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2441448"/>
            <a:ext cx="10287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0" y="2441448"/>
            <a:ext cx="45720" cy="914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25054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Ask a FIX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91693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821F"/>
                </a:solidFill>
                <a:latin typeface="Calibri"/>
              </a:rPr>
              <a:t>"What are the required tags in a NewOrderSingle?"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465576"/>
            <a:ext cx="86868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57016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nsolas"/>
              </a:rPr>
              <a:t>STEP
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3465576"/>
            <a:ext cx="10287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0" y="3465576"/>
            <a:ext cx="45720" cy="914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35295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Click a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94106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821F"/>
                </a:solidFill>
                <a:latin typeface="Calibri"/>
              </a:rPr>
              <a:t>Click 07 Single Order in the sidebar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489704"/>
            <a:ext cx="86868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581144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nsolas"/>
              </a:rPr>
              <a:t>STEP
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4489704"/>
            <a:ext cx="10287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45920" y="4489704"/>
            <a:ext cx="45720" cy="914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45537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Try Troubleshoot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496519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821F"/>
                </a:solidFill>
                <a:latin typeface="Calibri"/>
              </a:rPr>
              <a:t>Switch mode  -&gt;  paste a FIX rejection message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513832"/>
            <a:ext cx="868680" cy="9144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605272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onsolas"/>
              </a:rPr>
              <a:t>STEP
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0" y="5513832"/>
            <a:ext cx="10287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5920" y="5513832"/>
            <a:ext cx="45720" cy="914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83080" y="55778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Use the Builder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59893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821F"/>
                </a:solidFill>
                <a:latin typeface="Calibri"/>
              </a:rPr>
              <a:t>Open Builder  -&gt;  select MsgType=D  -&gt;  validate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47028"/>
            <a:ext cx="12188952" cy="1097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0"/>
            <a:ext cx="36576" cy="68580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7132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onsolas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971800"/>
            <a:ext cx="4572000" cy="4572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LIVE APP: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0E0"/>
                </a:solidFill>
                <a:latin typeface="Calibri"/>
              </a:rPr>
              <a:t>fix-protocol-tool.onrender.com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GITHUB: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931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0E0"/>
                </a:solidFill>
                <a:latin typeface="Calibri"/>
              </a:rPr>
              <a:t>github.com/ken-jiang-claude/fix-protocol-tool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USER MANUAL: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617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0E0"/>
                </a:solidFill>
                <a:latin typeface="Calibri"/>
              </a:rPr>
              <a:t>ReadMe.md  (in repository)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035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21F"/>
                </a:solidFill>
                <a:latin typeface="Consolas"/>
              </a:rPr>
              <a:t>PM DOC: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303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E0E0"/>
                </a:solidFill>
                <a:latin typeface="Calibri"/>
              </a:rPr>
              <a:t>PROJECT_MANAGEMENT.md  (in repository)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0350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Ken Jiang  | 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onsolas"/>
              </a:rPr>
              <a:t>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91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821F"/>
                </a:solidFill>
                <a:latin typeface="Calibri"/>
              </a:rPr>
              <a:t>Let's discuss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